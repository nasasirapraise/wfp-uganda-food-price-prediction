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7" r:id="rId9"/>
    <p:sldId id="268" r:id="rId10"/>
    <p:sldId id="270" r:id="rId11"/>
    <p:sldId id="272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5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4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9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2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6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9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3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2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2232-0CDE-43AD-AF5F-42F3F40B178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9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humdata.org/dataset/wfp-food-pric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Uganda Food Price Prediction Using Machine Learning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Predicting Food Prices Using Historical Market Data</a:t>
            </a:r>
            <a:endParaRPr lang="en-US" dirty="0" smtClean="0"/>
          </a:p>
          <a:p>
            <a:r>
              <a:rPr lang="en-US" b="1" dirty="0" smtClean="0"/>
              <a:t>Project Presented by:</a:t>
            </a:r>
            <a:r>
              <a:rPr lang="en-US" dirty="0" smtClean="0"/>
              <a:t> </a:t>
            </a:r>
            <a:r>
              <a:rPr lang="en-US" dirty="0" err="1" smtClean="0"/>
              <a:t>Nasasira</a:t>
            </a:r>
            <a:r>
              <a:rPr lang="en-US" dirty="0" smtClean="0"/>
              <a:t> Praise</a:t>
            </a:r>
            <a:br>
              <a:rPr lang="en-US" dirty="0" smtClean="0"/>
            </a:br>
            <a:r>
              <a:rPr lang="en-US" b="1" dirty="0" smtClean="0"/>
              <a:t>Dataset:</a:t>
            </a:r>
            <a:r>
              <a:rPr lang="en-US" dirty="0" smtClean="0"/>
              <a:t> World Food </a:t>
            </a:r>
            <a:r>
              <a:rPr lang="en-US" dirty="0" err="1" smtClean="0"/>
              <a:t>Programme</a:t>
            </a:r>
            <a:r>
              <a:rPr lang="en-US" dirty="0" smtClean="0"/>
              <a:t> (WFP) Uganda Food Prices Dataset</a:t>
            </a:r>
            <a:br>
              <a:rPr lang="en-US" dirty="0" smtClean="0"/>
            </a:br>
            <a:r>
              <a:rPr lang="en-US" b="1" dirty="0" smtClean="0"/>
              <a:t>Project:</a:t>
            </a:r>
            <a:r>
              <a:rPr lang="en-US" dirty="0" smtClean="0"/>
              <a:t> Machine Learning Predictive Modeling</a:t>
            </a:r>
            <a:br>
              <a:rPr lang="en-US" dirty="0" smtClean="0"/>
            </a:br>
            <a:r>
              <a:rPr lang="en-US" b="1" dirty="0" smtClean="0"/>
              <a:t>August 2026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2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OVERVIEW,PROBLEM STATEMENT &amp;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Problem statement</a:t>
            </a:r>
          </a:p>
          <a:p>
            <a:r>
              <a:rPr lang="en-US" dirty="0" smtClean="0"/>
              <a:t>Food </a:t>
            </a:r>
            <a:r>
              <a:rPr lang="en-US" dirty="0"/>
              <a:t>prices in Uganda vary depending on factors such as the commodity, location, market and time.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makes it difficult to estimate prices accurately. </a:t>
            </a:r>
            <a:endParaRPr lang="en-US" dirty="0" smtClean="0"/>
          </a:p>
          <a:p>
            <a:r>
              <a:rPr lang="en-US" dirty="0" smtClean="0"/>
              <a:t>My main objective </a:t>
            </a:r>
            <a:r>
              <a:rPr lang="en-US" dirty="0"/>
              <a:t>was therefore to explore historical food price data, identify important patterns and build a predictive machine learning model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Objectives</a:t>
            </a:r>
            <a:endParaRPr lang="en-US" b="1" dirty="0" smtClean="0"/>
          </a:p>
          <a:p>
            <a:r>
              <a:rPr lang="en-US" dirty="0" smtClean="0"/>
              <a:t>Analyze historical food price patterns. </a:t>
            </a:r>
          </a:p>
          <a:p>
            <a:r>
              <a:rPr lang="en-US" dirty="0" smtClean="0"/>
              <a:t>Identify factors associated with food prices. </a:t>
            </a:r>
          </a:p>
          <a:p>
            <a:r>
              <a:rPr lang="en-US" dirty="0" smtClean="0"/>
              <a:t>Prepare the data for machine learning. </a:t>
            </a:r>
          </a:p>
          <a:p>
            <a:r>
              <a:rPr lang="en-US" dirty="0" smtClean="0"/>
              <a:t>Develop and compare predictive models. </a:t>
            </a:r>
          </a:p>
          <a:p>
            <a:r>
              <a:rPr lang="en-US" dirty="0" smtClean="0"/>
              <a:t>Identify the best-performing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8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Dataset Description</a:t>
            </a:r>
          </a:p>
          <a:p>
            <a:r>
              <a:rPr lang="en-US" b="1" dirty="0" smtClean="0"/>
              <a:t>Source:</a:t>
            </a:r>
            <a:r>
              <a:rPr lang="en-US" dirty="0" smtClean="0"/>
              <a:t> </a:t>
            </a:r>
            <a:r>
              <a:rPr lang="en-US" dirty="0"/>
              <a:t>World Food </a:t>
            </a:r>
            <a:r>
              <a:rPr lang="en-US" dirty="0" err="1"/>
              <a:t>Programme</a:t>
            </a:r>
            <a:r>
              <a:rPr lang="en-US" dirty="0"/>
              <a:t>(WFP). Global Food Prices Database. Humanitarian Data Exchange(HDX)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Link</a:t>
            </a:r>
            <a:r>
              <a:rPr lang="en-US" dirty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u="sng" dirty="0">
                <a:hlinkClick r:id="rId2"/>
              </a:rPr>
              <a:t>https://data.humdata.org/dataset/wfp-food-prices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Country:</a:t>
            </a:r>
            <a:r>
              <a:rPr lang="en-US" dirty="0" smtClean="0"/>
              <a:t> Uganda</a:t>
            </a:r>
            <a:br>
              <a:rPr lang="en-US" dirty="0" smtClean="0"/>
            </a:br>
            <a:r>
              <a:rPr lang="en-US" b="1" dirty="0" smtClean="0"/>
              <a:t>Observations:30933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Features:</a:t>
            </a:r>
            <a:r>
              <a:rPr lang="en-US" dirty="0" smtClean="0"/>
              <a:t> </a:t>
            </a:r>
            <a:r>
              <a:rPr lang="en-US" b="1" dirty="0" smtClean="0"/>
              <a:t>16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Target:</a:t>
            </a:r>
            <a:r>
              <a:rPr lang="en-US" dirty="0" smtClean="0"/>
              <a:t> Food Price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Variables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544957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of 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Admin1 / Admin2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Market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Market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Commodity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Food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Food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Measurement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Pricetype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Retail / wholesale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Target variable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7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Before </a:t>
            </a:r>
            <a:r>
              <a:rPr lang="en-US" dirty="0" err="1" smtClean="0"/>
              <a:t>modelling,the</a:t>
            </a:r>
            <a:r>
              <a:rPr lang="en-US" dirty="0" smtClean="0"/>
              <a:t> following steps were performed:</a:t>
            </a:r>
          </a:p>
          <a:p>
            <a:r>
              <a:rPr lang="en-US" dirty="0" smtClean="0"/>
              <a:t>Checked data types and dataset structure </a:t>
            </a:r>
          </a:p>
          <a:p>
            <a:r>
              <a:rPr lang="en-US" dirty="0" smtClean="0"/>
              <a:t>Checked for missing values and duplicates </a:t>
            </a:r>
          </a:p>
          <a:p>
            <a:r>
              <a:rPr lang="en-US" dirty="0" smtClean="0"/>
              <a:t>Cleaned the dataset </a:t>
            </a:r>
          </a:p>
          <a:p>
            <a:r>
              <a:rPr lang="en-US" dirty="0" smtClean="0"/>
              <a:t>Created </a:t>
            </a:r>
            <a:r>
              <a:rPr lang="en-US" b="1" dirty="0" smtClean="0"/>
              <a:t>year and month</a:t>
            </a:r>
            <a:r>
              <a:rPr lang="en-US" dirty="0" smtClean="0"/>
              <a:t> features from the date </a:t>
            </a:r>
          </a:p>
          <a:p>
            <a:r>
              <a:rPr lang="en-US" dirty="0" smtClean="0"/>
              <a:t>Encoded categorical variables </a:t>
            </a:r>
          </a:p>
          <a:p>
            <a:r>
              <a:rPr lang="en-US" dirty="0" smtClean="0"/>
              <a:t>Selected relevant prediction features </a:t>
            </a:r>
          </a:p>
          <a:p>
            <a:r>
              <a:rPr lang="en-US" dirty="0" smtClean="0"/>
              <a:t>Split the data into </a:t>
            </a:r>
            <a:r>
              <a:rPr lang="en-US" b="1" dirty="0" smtClean="0"/>
              <a:t>training and testing 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70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EXPLORATORY DATA ANALYSIS (EDA)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3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Price distribution histogram, Average price by commodity and Average Food Price Over Time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71641"/>
            <a:ext cx="5181600" cy="3459306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6899" y="2406606"/>
            <a:ext cx="5181600" cy="25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1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489"/>
            <a:ext cx="12192000" cy="51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6670"/>
            <a:ext cx="10515600" cy="112401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</a:t>
            </a:r>
            <a:r>
              <a:rPr lang="en-US" dirty="0" smtClean="0"/>
              <a:t>Key Findings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99504" y="118245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Food prices were </a:t>
            </a:r>
            <a:r>
              <a:rPr lang="en-US" altLang="en-US" b="1" dirty="0">
                <a:latin typeface="Arial" panose="020B0604020202020204" pitchFamily="34" charset="0"/>
              </a:rPr>
              <a:t>positively </a:t>
            </a:r>
            <a:r>
              <a:rPr lang="en-US" altLang="en-US" b="1" dirty="0" smtClean="0">
                <a:latin typeface="Arial" panose="020B0604020202020204" pitchFamily="34" charset="0"/>
              </a:rPr>
              <a:t>skewed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smtClean="0">
                <a:latin typeface="Arial" panose="020B0604020202020204" pitchFamily="34" charset="0"/>
              </a:rPr>
              <a:t>with </a:t>
            </a:r>
            <a:r>
              <a:rPr lang="en-US" dirty="0"/>
              <a:t>most observations </a:t>
            </a:r>
            <a:r>
              <a:rPr lang="en-US" dirty="0" smtClean="0"/>
              <a:t>at </a:t>
            </a:r>
            <a:r>
              <a:rPr lang="en-US" dirty="0"/>
              <a:t>lower price levels while some commodities had much higher </a:t>
            </a:r>
            <a:r>
              <a:rPr lang="en-US" dirty="0" smtClean="0"/>
              <a:t>prices.</a:t>
            </a:r>
            <a:r>
              <a:rPr lang="en-US" altLang="en-US" dirty="0" smtClean="0">
                <a:latin typeface="Arial" panose="020B0604020202020204" pitchFamily="34" charset="0"/>
              </a:rPr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Fish (dry)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</a:rPr>
              <a:t>vegetable oil</a:t>
            </a:r>
            <a:r>
              <a:rPr lang="en-US" altLang="en-US" dirty="0">
                <a:latin typeface="Arial" panose="020B0604020202020204" pitchFamily="34" charset="0"/>
              </a:rPr>
              <a:t> were among the higher-priced commodities.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Cassava (fresh)</a:t>
            </a:r>
            <a:r>
              <a:rPr lang="en-US" altLang="en-US" dirty="0">
                <a:latin typeface="Arial" panose="020B0604020202020204" pitchFamily="34" charset="0"/>
              </a:rPr>
              <a:t> was among the lower-priced commodities.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Average food prices generally increased over </a:t>
            </a:r>
            <a:r>
              <a:rPr lang="en-US" altLang="en-US" dirty="0" smtClean="0">
                <a:latin typeface="Arial" panose="020B0604020202020204" pitchFamily="34" charset="0"/>
              </a:rPr>
              <a:t>time though with some seasonal fluctuations. 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221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900" b="1" dirty="0" smtClean="0"/>
              <a:t>Machine Learning Approach</a:t>
            </a:r>
          </a:p>
          <a:p>
            <a:r>
              <a:rPr lang="en-US" sz="3200" dirty="0"/>
              <a:t>After preparing and encoding the data, I trained two machine learning models: a Random Forest model and a Neural </a:t>
            </a:r>
            <a:r>
              <a:rPr lang="en-US" sz="3200" dirty="0" smtClean="0"/>
              <a:t>Network</a:t>
            </a:r>
          </a:p>
          <a:p>
            <a:r>
              <a:rPr lang="en-US" sz="2900" b="1" dirty="0" smtClean="0"/>
              <a:t>Evaluation </a:t>
            </a:r>
            <a:r>
              <a:rPr lang="en-US" sz="2900" b="1" dirty="0" smtClean="0"/>
              <a:t>Metrics</a:t>
            </a:r>
          </a:p>
          <a:p>
            <a:r>
              <a:rPr lang="en-US" sz="2900" b="1" dirty="0" smtClean="0"/>
              <a:t>MAE</a:t>
            </a:r>
            <a:r>
              <a:rPr lang="en-US" sz="2900" dirty="0" smtClean="0"/>
              <a:t> — Mean Absolute Error </a:t>
            </a:r>
          </a:p>
          <a:p>
            <a:r>
              <a:rPr lang="en-US" sz="2900" b="1" dirty="0" smtClean="0"/>
              <a:t>RMSE</a:t>
            </a:r>
            <a:r>
              <a:rPr lang="en-US" sz="2900" dirty="0" smtClean="0"/>
              <a:t> — Root Mean Squared Error </a:t>
            </a:r>
          </a:p>
          <a:p>
            <a:r>
              <a:rPr lang="en-US" sz="2900" b="1" dirty="0" smtClean="0"/>
              <a:t>R²</a:t>
            </a:r>
            <a:r>
              <a:rPr lang="en-US" sz="2900" dirty="0" smtClean="0"/>
              <a:t> — Coefficient of Determination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085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45" y="365125"/>
            <a:ext cx="10515600" cy="1325563"/>
          </a:xfrm>
        </p:spPr>
        <p:txBody>
          <a:bodyPr/>
          <a:lstStyle/>
          <a:p>
            <a:r>
              <a:rPr lang="en-US" dirty="0" smtClean="0"/>
              <a:t>MODEL  COMPARISON RESULTS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6619" y="1690688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MAE:</a:t>
            </a:r>
            <a:r>
              <a:rPr lang="en-US" dirty="0" smtClean="0"/>
              <a:t> 335.20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RMSE:</a:t>
            </a:r>
            <a:r>
              <a:rPr lang="en-US" dirty="0" smtClean="0"/>
              <a:t> 1242.19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R²:</a:t>
            </a:r>
            <a:r>
              <a:rPr lang="en-US" dirty="0" smtClean="0"/>
              <a:t> </a:t>
            </a:r>
            <a:r>
              <a:rPr lang="en-US" b="1" dirty="0" smtClean="0"/>
              <a:t>90.74%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Neural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MAE:</a:t>
            </a:r>
            <a:r>
              <a:rPr lang="en-US" dirty="0" smtClean="0"/>
              <a:t> 702.64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RMSE:</a:t>
            </a:r>
            <a:r>
              <a:rPr lang="en-US" dirty="0" smtClean="0"/>
              <a:t> 1513.58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R²:</a:t>
            </a:r>
            <a:r>
              <a:rPr lang="en-US" dirty="0" smtClean="0"/>
              <a:t> </a:t>
            </a:r>
            <a:r>
              <a:rPr lang="en-US" b="1" dirty="0" smtClean="0"/>
              <a:t>86.25</a:t>
            </a:r>
            <a:r>
              <a:rPr lang="en-US" b="1" dirty="0" smtClean="0"/>
              <a:t>%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Random Forest model performed better than the Neural Network. It achieved an MAE of 335.20, an RMSE of 1242.19 and an R-squared of 90.74%, compared with 86.25% for the Neural Network. Therefore, Random Forest was selected as the best-performing model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99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Food Price Prediction Demo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I also developed a working prediction interface where a user can provide information about a food commodity and market conditions and receive a predicted food price.</a:t>
            </a:r>
          </a:p>
          <a:p>
            <a:r>
              <a:rPr lang="en-US" dirty="0" smtClean="0"/>
              <a:t>Administrative region </a:t>
            </a:r>
          </a:p>
          <a:p>
            <a:r>
              <a:rPr lang="en-US" dirty="0" smtClean="0"/>
              <a:t>Market </a:t>
            </a:r>
          </a:p>
          <a:p>
            <a:r>
              <a:rPr lang="en-US" dirty="0" smtClean="0"/>
              <a:t>Commodity </a:t>
            </a:r>
          </a:p>
          <a:p>
            <a:r>
              <a:rPr lang="en-US" dirty="0" smtClean="0"/>
              <a:t>Category </a:t>
            </a:r>
          </a:p>
          <a:p>
            <a:r>
              <a:rPr lang="en-US" dirty="0" smtClean="0"/>
              <a:t>Unit </a:t>
            </a:r>
          </a:p>
          <a:p>
            <a:r>
              <a:rPr lang="en-US" dirty="0" smtClean="0"/>
              <a:t>Price type </a:t>
            </a:r>
          </a:p>
          <a:p>
            <a:r>
              <a:rPr lang="en-US" dirty="0" smtClean="0"/>
              <a:t>Year </a:t>
            </a:r>
          </a:p>
          <a:p>
            <a:r>
              <a:rPr lang="en-US" dirty="0" smtClean="0"/>
              <a:t>Month </a:t>
            </a:r>
          </a:p>
          <a:p>
            <a:r>
              <a:rPr lang="en-US" dirty="0" smtClean="0"/>
              <a:t>Latitude and longitude </a:t>
            </a:r>
          </a:p>
          <a:p>
            <a:r>
              <a:rPr lang="en-US" b="1" dirty="0" smtClean="0"/>
              <a:t>Output</a:t>
            </a:r>
          </a:p>
          <a:p>
            <a:r>
              <a:rPr lang="en-US" b="1" dirty="0" smtClean="0"/>
              <a:t>Predicted Food Price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646" y="2358185"/>
            <a:ext cx="400105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36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&amp;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Key Findings</a:t>
            </a:r>
          </a:p>
          <a:p>
            <a:r>
              <a:rPr lang="en-US" dirty="0" smtClean="0"/>
              <a:t>Food prices vary considerably between commodities. </a:t>
            </a:r>
          </a:p>
          <a:p>
            <a:r>
              <a:rPr lang="en-US" dirty="0" smtClean="0"/>
              <a:t>Prices generally increased over the period analyzed. </a:t>
            </a:r>
          </a:p>
          <a:p>
            <a:r>
              <a:rPr lang="en-US" dirty="0" smtClean="0"/>
              <a:t>Commodity type was an important factor in price prediction. </a:t>
            </a:r>
          </a:p>
          <a:p>
            <a:r>
              <a:rPr lang="en-US" dirty="0" smtClean="0"/>
              <a:t>Random Forest provided the strongest predictive performance. </a:t>
            </a:r>
          </a:p>
          <a:p>
            <a:r>
              <a:rPr lang="en-US" dirty="0" smtClean="0"/>
              <a:t>The model achieved </a:t>
            </a:r>
            <a:r>
              <a:rPr lang="en-US" b="1" dirty="0" smtClean="0"/>
              <a:t>90.74% R²</a:t>
            </a:r>
            <a:r>
              <a:rPr lang="en-US" dirty="0" smtClean="0"/>
              <a:t> on the test data. </a:t>
            </a:r>
          </a:p>
          <a:p>
            <a:r>
              <a:rPr lang="en-US" b="1" dirty="0" smtClean="0"/>
              <a:t>Recommendations</a:t>
            </a:r>
          </a:p>
          <a:p>
            <a:r>
              <a:rPr lang="en-US" dirty="0" smtClean="0"/>
              <a:t>Use predictive analytics to support </a:t>
            </a:r>
            <a:r>
              <a:rPr lang="en-US" b="1" dirty="0" smtClean="0"/>
              <a:t>food security planning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Support farmers and traders with better price information. </a:t>
            </a:r>
          </a:p>
          <a:p>
            <a:r>
              <a:rPr lang="en-US" dirty="0" smtClean="0"/>
              <a:t>Use updated data to continuously improve the model. </a:t>
            </a:r>
          </a:p>
          <a:p>
            <a:r>
              <a:rPr lang="en-US" dirty="0" smtClean="0"/>
              <a:t>Future models could include </a:t>
            </a:r>
            <a:r>
              <a:rPr lang="en-US" b="1" dirty="0" smtClean="0"/>
              <a:t>weather, inflation, fuel prices and seasonal production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6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This </a:t>
            </a:r>
            <a:r>
              <a:rPr lang="en-US" dirty="0"/>
              <a:t>project showed that historical food price data can be used to identify important price patterns and build a machine learning model for food price prediction. The Random Forest model produced the strongest performance among the models </a:t>
            </a:r>
            <a:r>
              <a:rPr lang="en-US" dirty="0" smtClean="0"/>
              <a:t>tested.</a:t>
            </a:r>
          </a:p>
          <a:p>
            <a:r>
              <a:rPr lang="en-US" b="1" dirty="0" smtClean="0"/>
              <a:t>Future </a:t>
            </a:r>
            <a:r>
              <a:rPr lang="en-US" b="1" dirty="0" smtClean="0"/>
              <a:t>Improvement</a:t>
            </a:r>
          </a:p>
          <a:p>
            <a:r>
              <a:rPr lang="en-US" dirty="0" smtClean="0"/>
              <a:t> </a:t>
            </a:r>
            <a:r>
              <a:rPr lang="en-US" dirty="0"/>
              <a:t>The project could be improved in the future by incorporating additional factors such as inflation, weather, seasonal conditions and other economic </a:t>
            </a:r>
            <a:r>
              <a:rPr lang="en-US" dirty="0" smtClean="0"/>
              <a:t>indicators to predict food price in Uganda.</a:t>
            </a:r>
            <a:endParaRPr lang="en-US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7105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Repository access link.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https://github.com/nasasirapraise/wfp-uganda-food-price-prediction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81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628</Words>
  <Application>Microsoft Office PowerPoint</Application>
  <PresentationFormat>Widescreen</PresentationFormat>
  <Paragraphs>104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Uganda Food Price Prediction Using Machine Learning </vt:lpstr>
      <vt:lpstr>PROJECT OVERVIEW,PROBLEM STATEMENT &amp; OBJECTIVES</vt:lpstr>
      <vt:lpstr>DATASET</vt:lpstr>
      <vt:lpstr>Main Variables</vt:lpstr>
      <vt:lpstr>DATA PREPARATION</vt:lpstr>
      <vt:lpstr>EXPLORATORY DATA ANALYSIS (EDA)</vt:lpstr>
      <vt:lpstr>Price distribution histogram, Average price by commodity and Average Food Price Over Time </vt:lpstr>
      <vt:lpstr>PowerPoint Presentation</vt:lpstr>
      <vt:lpstr>  Key Findings  </vt:lpstr>
      <vt:lpstr>MACHINE LEARNING</vt:lpstr>
      <vt:lpstr>MODEL  COMPARISON RESULTS </vt:lpstr>
      <vt:lpstr>Food Price Prediction Demo </vt:lpstr>
      <vt:lpstr>KEY FINDINGS &amp; RECOMMENDATIONS</vt:lpstr>
      <vt:lpstr>Conclusion</vt:lpstr>
      <vt:lpstr>Github Repository access link.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Uganda Food Price Prediction Using Machine Learning</dc:title>
  <dc:creator>PRAISEN</dc:creator>
  <cp:lastModifiedBy>PRAISEN</cp:lastModifiedBy>
  <cp:revision>16</cp:revision>
  <dcterms:created xsi:type="dcterms:W3CDTF">2026-08-12T13:34:15Z</dcterms:created>
  <dcterms:modified xsi:type="dcterms:W3CDTF">2026-08-13T10:35:09Z</dcterms:modified>
</cp:coreProperties>
</file>